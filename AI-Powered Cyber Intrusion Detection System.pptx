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Orbitron"/>
      <p:regular r:id="rId29"/>
      <p:bold r:id="rId30"/>
    </p:embeddedFont>
    <p:embeddedFont>
      <p:font typeface="Roboto Mono"/>
      <p:regular r:id="rId31"/>
      <p:bold r:id="rId32"/>
      <p:italic r:id="rId33"/>
      <p:boldItalic r:id="rId34"/>
    </p:embeddedFont>
    <p:embeddedFont>
      <p:font typeface="Rajdhani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rbitron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Orbitron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35" Type="http://schemas.openxmlformats.org/officeDocument/2006/relationships/font" Target="fonts/Rajdhani-regular.fntdata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ajdhani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d8ce88786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d8ce8878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8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29.pn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50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22.png"/><Relationship Id="rId7" Type="http://schemas.openxmlformats.org/officeDocument/2006/relationships/image" Target="../media/image39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7.png"/><Relationship Id="rId13" Type="http://schemas.openxmlformats.org/officeDocument/2006/relationships/image" Target="../media/image5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8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8.png"/><Relationship Id="rId5" Type="http://schemas.openxmlformats.org/officeDocument/2006/relationships/image" Target="../media/image21.png"/><Relationship Id="rId6" Type="http://schemas.openxmlformats.org/officeDocument/2006/relationships/image" Target="../media/image4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5.png"/><Relationship Id="rId13" Type="http://schemas.openxmlformats.org/officeDocument/2006/relationships/image" Target="../media/image47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49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Relationship Id="rId7" Type="http://schemas.openxmlformats.org/officeDocument/2006/relationships/image" Target="../media/image34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Relationship Id="rId7" Type="http://schemas.openxmlformats.org/officeDocument/2006/relationships/image" Target="../media/image6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52.png"/><Relationship Id="rId7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0.png"/><Relationship Id="rId6" Type="http://schemas.openxmlformats.org/officeDocument/2006/relationships/image" Target="../media/image6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jpg"/></Relationships>
</file>

<file path=ppt/slides/_rels/slide1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57.png"/><Relationship Id="rId5" Type="http://schemas.openxmlformats.org/officeDocument/2006/relationships/image" Target="../media/image53.png"/><Relationship Id="rId6" Type="http://schemas.openxmlformats.org/officeDocument/2006/relationships/image" Target="../media/image56.png"/><Relationship Id="rId7" Type="http://schemas.openxmlformats.org/officeDocument/2006/relationships/image" Target="../media/image59.png"/><Relationship Id="rId8" Type="http://schemas.openxmlformats.org/officeDocument/2006/relationships/image" Target="../media/image6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2.png"/><Relationship Id="rId6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4.png"/><Relationship Id="rId6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8700" y="4529881"/>
            <a:ext cx="251460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915352" y="1066800"/>
            <a:ext cx="10361295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AI-POWERED CYBER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 INTRUSION DETECTION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5352" y="2636341"/>
            <a:ext cx="1036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(CIDS)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3017341"/>
            <a:ext cx="986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Roboto Mono"/>
                <a:ea typeface="Roboto Mono"/>
                <a:cs typeface="Roboto Mono"/>
                <a:sym typeface="Roboto Mono"/>
              </a:rPr>
              <a:t>Based on Supervised Machine Learning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62050" y="7111156"/>
            <a:ext cx="98679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B.Tech CSE (AI &amp; ML)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13450" y="3415750"/>
            <a:ext cx="476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Submitted 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Dr. Geethika Sethi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838700" y="4683631"/>
            <a:ext cx="2514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Submitted By: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124450" y="5015806"/>
            <a:ext cx="222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Sarvagya Singh (12305812)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124450" y="5347981"/>
            <a:ext cx="222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Pritish Majumdar (12309642)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124525" y="5680156"/>
            <a:ext cx="222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Daksh Kaushal (12321086)</a:t>
            </a:r>
            <a:endParaRPr/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700" y="506819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700" y="5381931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8700" y="5695644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PRESENTATION OUTLINE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23098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Background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27574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Problem Statement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66775" y="32051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Objectives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66775" y="36528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Scope &amp; Importance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6775" y="41005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Methodology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6775" y="45481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Model Architecture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66775" y="49958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Training &amp; Evaluation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67500" y="23098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Web App &amp; Deployment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667500" y="27574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Results &amp; Analysis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667500" y="32051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Innovation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667500" y="36528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Caveats &amp; Limitations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667500" y="41005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Conclusion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667500" y="45481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References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667500" y="49958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Acknowledgments</a:t>
            </a:r>
            <a:endParaRPr/>
          </a:p>
        </p:txBody>
      </p:sp>
      <p:pic>
        <p:nvPicPr>
          <p:cNvPr descr="image.png" id="121" name="Google Shape;12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098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574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051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52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00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5481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9958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098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574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051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652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100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5481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99586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BACKGROUND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81025" y="2119312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The project focuses on designing and deploying an </a:t>
            </a:r>
            <a:r>
              <a:rPr b="1" i="0" lang="en-US" sz="15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AI-based Cyber Intrusion Detection System (CIDS)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capable of classifying network traffic into benign and malicious categories using 27 supervised ML models.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581025" y="3538537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Traditional signature-based IDS fail against modern threats:</a:t>
            </a:r>
            <a:endParaRPr/>
          </a:p>
        </p:txBody>
      </p:sp>
      <p:pic>
        <p:nvPicPr>
          <p:cNvPr descr="image.png" id="145" name="Google Shape;14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09800"/>
            <a:ext cx="522922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866775" y="38433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Zero-day attacks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66775" y="42910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Polymorphic malware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66775" y="47386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High-volume DDoS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866775" y="51863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Stealthy infiltration attacks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433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2910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386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18636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338387"/>
            <a:ext cx="522922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PROBLEM STATEMENT</a:t>
            </a:r>
            <a:endParaRPr/>
          </a:p>
        </p:txBody>
      </p:sp>
      <p:sp>
        <p:nvSpPr>
          <p:cNvPr id="162" name="Google Shape;162;p16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581025" y="2147887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THE CHALLENGE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581025" y="2576512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Modern networks generate massive volumes of traffic where malicious patterns are difficult to detect manually.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581025" y="3386137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TRADITIONAL IDS LIMITATIONS</a:t>
            </a:r>
            <a:endParaRPr/>
          </a:p>
        </p:txBody>
      </p:sp>
      <p:pic>
        <p:nvPicPr>
          <p:cNvPr descr="image.png" id="166" name="Google Shape;16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15362" y="27289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6661070" y="3681412"/>
            <a:ext cx="467058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OBJECTIVE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772275" y="4110037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Build a robust ML-powered IDS capable of accurate </a:t>
            </a:r>
            <a:r>
              <a:rPr b="1" i="0" lang="en-US" sz="15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multiclass attack identification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using real-world traffic data (TII-SSRC-23).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66775" y="38147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High false-positive rates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866775" y="42624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Inability to detect new (zero-day) threats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866775" y="47101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Lack of adaptability to changing patterns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866775" y="51577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Performance bottlenecks at scale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8147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624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101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157787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429000"/>
            <a:ext cx="34861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3429000"/>
            <a:ext cx="348615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3429000"/>
            <a:ext cx="348615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OBJECTIVES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05276" y="2219325"/>
            <a:ext cx="11581447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PRIMARY OBJECTIVE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581025" y="27432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Develop an end-to-end, supervised learning–based IDS deployed as a real-time web application.</a:t>
            </a:r>
            <a:endParaRPr/>
          </a:p>
        </p:txBody>
      </p:sp>
      <p:pic>
        <p:nvPicPr>
          <p:cNvPr descr="image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7412" y="36766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7"/>
          <p:cNvSpPr txBox="1"/>
          <p:nvPr/>
        </p:nvSpPr>
        <p:spPr>
          <a:xfrm>
            <a:off x="753903" y="4248150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DATA PIPELINE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28675" y="4676775"/>
            <a:ext cx="299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Data cleaning, encoding, scaling &amp; extensive feature engineering.</a:t>
            </a:r>
            <a:endParaRPr/>
          </a:p>
        </p:txBody>
      </p:sp>
      <p:pic>
        <p:nvPicPr>
          <p:cNvPr descr="image.png" id="193" name="Google Shape;19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0" y="36766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4525803" y="4248150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MODEL TRAINING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600575" y="4676775"/>
            <a:ext cx="299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Training 27 ML models across 9 algorithm families.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9775" y="36766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8297703" y="4248150"/>
            <a:ext cx="314039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DEPLOYMENT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8372475" y="4676775"/>
            <a:ext cx="2990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Build interactive Streamlit app for real-time inference.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90762"/>
            <a:ext cx="5229225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43162"/>
            <a:ext cx="5229225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SCOPE OF WORK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828675" y="2538412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CURRENT CAPABILITIES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828675" y="2919412"/>
            <a:ext cx="4733925" cy="95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6629400" y="2690812"/>
            <a:ext cx="49706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Orbitron"/>
                <a:ea typeface="Orbitron"/>
                <a:cs typeface="Orbitron"/>
                <a:sym typeface="Orbitron"/>
              </a:rPr>
              <a:t>FUTURE SCOPE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6629400" y="3071812"/>
            <a:ext cx="4733925" cy="952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114425" y="3119437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Handles </a:t>
            </a:r>
            <a:r>
              <a:rPr b="1" i="0" lang="en-US" sz="15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multiclass classification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(DoS, DDoS, Brute Force, Port Scan, Botnet)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114425" y="387191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Works with preprocessed CSV inputs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1114425" y="4319587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Comparative evaluation of 27 models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114425" y="476726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Fully accessible through Cloud-based Streamlit app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915150" y="3271837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GNN-based traffic graph modeling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915150" y="371951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Real-time packet sniffing integration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915150" y="4167187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Zero-day detection using unsupervised learning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915150" y="4614862"/>
            <a:ext cx="4448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Automated response mechanisms</a:t>
            </a:r>
            <a:endParaRPr/>
          </a:p>
        </p:txBody>
      </p:sp>
      <p:pic>
        <p:nvPicPr>
          <p:cNvPr descr="image.png" id="221" name="Google Shape;22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31194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3871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43195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47672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271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719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1671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461486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IMPORTANCE &amp; APPLICABILITY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581025" y="2767012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WHY THIS MATTERS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866775" y="31956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Traditional IDS fail against sophisticated attacks.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66775" y="36433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Increasing cyberthreats across defense, finance, healthcare.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866775" y="409098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ML-based systems adapt to new traffic patterns.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66775" y="45386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Supports forensics &amp; threat intelligence.</a:t>
            </a:r>
            <a:endParaRPr/>
          </a:p>
        </p:txBody>
      </p:sp>
      <p:pic>
        <p:nvPicPr>
          <p:cNvPr descr="image.png" id="242" name="Google Shape;24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956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433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909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5386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0931" y="2657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6629400" y="3228975"/>
            <a:ext cx="20240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SOC Automation</a:t>
            </a:r>
            <a:endParaRPr/>
          </a:p>
        </p:txBody>
      </p:sp>
      <p:pic>
        <p:nvPicPr>
          <p:cNvPr descr="image.png" id="248" name="Google Shape;24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13168" y="26574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9"/>
          <p:cNvSpPr txBox="1"/>
          <p:nvPr/>
        </p:nvSpPr>
        <p:spPr>
          <a:xfrm>
            <a:off x="9339262" y="3228975"/>
            <a:ext cx="20240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Network Security</a:t>
            </a:r>
            <a:endParaRPr/>
          </a:p>
        </p:txBody>
      </p:sp>
      <p:pic>
        <p:nvPicPr>
          <p:cNvPr descr="image.png" id="250" name="Google Shape;25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50931" y="42195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9"/>
          <p:cNvSpPr txBox="1"/>
          <p:nvPr/>
        </p:nvSpPr>
        <p:spPr>
          <a:xfrm>
            <a:off x="6629400" y="4791075"/>
            <a:ext cx="20240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Cyber Forensics</a:t>
            </a:r>
            <a:endParaRPr/>
          </a:p>
        </p:txBody>
      </p:sp>
      <p:pic>
        <p:nvPicPr>
          <p:cNvPr descr="image.png" id="252" name="Google Shape;25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13168" y="42195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9"/>
          <p:cNvSpPr txBox="1"/>
          <p:nvPr/>
        </p:nvSpPr>
        <p:spPr>
          <a:xfrm>
            <a:off x="9339262" y="4791075"/>
            <a:ext cx="20240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Research Platform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0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METHODOLOGY PIPELINE</a:t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1809750" y="519112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2524125" y="458822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1009662" y="3213672"/>
            <a:ext cx="18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1. ACQUISITION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1052550" y="3834997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TII-SSRC-23 Dataset</a:t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4238625" y="458822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2889074" y="3213675"/>
            <a:ext cx="24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2. PREPROCESSING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3438550" y="4085597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Cleaning, Scaling, SMOTE</a:t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5953125" y="458822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5195850" y="3213672"/>
            <a:ext cx="18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3. </a:t>
            </a:r>
            <a:endParaRPr b="1" i="0" sz="1800" u="none" cap="none" strike="noStrike">
              <a:solidFill>
                <a:srgbClr val="BAE6FD"/>
              </a:solidFill>
              <a:latin typeface="Orbitron"/>
              <a:ea typeface="Orbitron"/>
              <a:cs typeface="Orbitron"/>
              <a:sym typeface="Orbitro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MODELING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5317875" y="3834997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27 Models, 9 Families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7667625" y="458822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996212" y="3183872"/>
            <a:ext cx="18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4. EVALUATION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7082000" y="3834997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F1, ROC-AUC, Matrices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9382125" y="458822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06B6D4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8888648" y="3175175"/>
            <a:ext cx="20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5. DEPLOYMENT</a:t>
            </a:r>
            <a:endParaRPr/>
          </a:p>
        </p:txBody>
      </p:sp>
      <p:sp>
        <p:nvSpPr>
          <p:cNvPr id="277" name="Google Shape;277;p20"/>
          <p:cNvSpPr txBox="1"/>
          <p:nvPr/>
        </p:nvSpPr>
        <p:spPr>
          <a:xfrm>
            <a:off x="9048400" y="3834997"/>
            <a:ext cx="171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Streamlit Cloud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1362" y="1776412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79107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71725" y="479107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62425" y="479107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534352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71725" y="534352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62425" y="5343525"/>
            <a:ext cx="1647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805737" y="2490787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DATASET: TII-SSRC-23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581025" y="2000250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KEY FEATURES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581025" y="4362450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ATTACK CATEGORIES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866775" y="242887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Duration statistics &amp; Traffic volume metrics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866775" y="28765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Protocol &amp; port info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866775" y="33242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Behavioral indicators (Byte ratios, flag counts)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866775" y="37719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Challenge: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High class imbalance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7548562" y="5776912"/>
            <a:ext cx="6096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 Benign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8301037" y="5776912"/>
            <a:ext cx="52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 DDoS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8967787" y="5776912"/>
            <a:ext cx="438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 DoS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9548812" y="5776912"/>
            <a:ext cx="8953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Rajdhani"/>
                <a:ea typeface="Rajdhani"/>
                <a:cs typeface="Rajdhani"/>
                <a:sym typeface="Rajdhani"/>
              </a:rPr>
              <a:t> Brute Force</a:t>
            </a:r>
            <a:endParaRPr/>
          </a:p>
        </p:txBody>
      </p:sp>
      <p:pic>
        <p:nvPicPr>
          <p:cNvPr descr="image.png" id="304" name="Google Shape;304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24288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28765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33242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3771900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 txBox="1"/>
          <p:nvPr/>
        </p:nvSpPr>
        <p:spPr>
          <a:xfrm>
            <a:off x="8153400" y="3314700"/>
            <a:ext cx="1770221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27.5 GB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8605837" y="3743325"/>
            <a:ext cx="7810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Total Data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DATA PREPROCESSING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8" name="Google Shape;31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4800" y="2924175"/>
            <a:ext cx="214312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 txBox="1"/>
          <p:nvPr/>
        </p:nvSpPr>
        <p:spPr>
          <a:xfrm>
            <a:off x="866775" y="2757487"/>
            <a:ext cx="494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Null Handling:</a:t>
            </a:r>
            <a:r>
              <a:rPr b="0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Removal of duplicates &amp; nulls.</a:t>
            </a:r>
            <a:endParaRPr sz="1800"/>
          </a:p>
        </p:txBody>
      </p:sp>
      <p:sp>
        <p:nvSpPr>
          <p:cNvPr id="320" name="Google Shape;320;p22"/>
          <p:cNvSpPr txBox="1"/>
          <p:nvPr/>
        </p:nvSpPr>
        <p:spPr>
          <a:xfrm>
            <a:off x="866775" y="3205162"/>
            <a:ext cx="494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Cleaning:</a:t>
            </a:r>
            <a:r>
              <a:rPr b="0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Dropped timestamps &amp; Flow IDs.</a:t>
            </a:r>
            <a:endParaRPr sz="1800"/>
          </a:p>
        </p:txBody>
      </p:sp>
      <p:sp>
        <p:nvSpPr>
          <p:cNvPr id="321" name="Google Shape;321;p22"/>
          <p:cNvSpPr txBox="1"/>
          <p:nvPr/>
        </p:nvSpPr>
        <p:spPr>
          <a:xfrm>
            <a:off x="866775" y="3652837"/>
            <a:ext cx="494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Encoding: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Label Encoding for protocols/flags.</a:t>
            </a:r>
            <a:endParaRPr sz="1900"/>
          </a:p>
        </p:txBody>
      </p:sp>
      <p:sp>
        <p:nvSpPr>
          <p:cNvPr id="322" name="Google Shape;322;p22"/>
          <p:cNvSpPr txBox="1"/>
          <p:nvPr/>
        </p:nvSpPr>
        <p:spPr>
          <a:xfrm>
            <a:off x="866775" y="4100512"/>
            <a:ext cx="4943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Scaling:</a:t>
            </a:r>
            <a:r>
              <a:rPr b="0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StandardScaler (Z-score normalization).</a:t>
            </a:r>
            <a:endParaRPr sz="1800"/>
          </a:p>
        </p:txBody>
      </p:sp>
      <p:sp>
        <p:nvSpPr>
          <p:cNvPr id="323" name="Google Shape;323;p22"/>
          <p:cNvSpPr txBox="1"/>
          <p:nvPr/>
        </p:nvSpPr>
        <p:spPr>
          <a:xfrm>
            <a:off x="866775" y="4548187"/>
            <a:ext cx="494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Balancing:</a:t>
            </a:r>
            <a:r>
              <a:rPr b="0" i="0" lang="en-US" sz="20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SMOTE &amp; Class Weights applied.</a:t>
            </a:r>
            <a:endParaRPr sz="1900"/>
          </a:p>
        </p:txBody>
      </p:sp>
      <p:pic>
        <p:nvPicPr>
          <p:cNvPr descr="image.png" id="324" name="Google Shape;3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574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051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52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00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48187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209800"/>
            <a:ext cx="53721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09800"/>
            <a:ext cx="53721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14825"/>
            <a:ext cx="53721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314825"/>
            <a:ext cx="5372100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3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FEATURE ENGINEERING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581025" y="16192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Engineered features significantly improved discriminative power for detecting stealthy attacks.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828675" y="2457450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953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FLOW SYMMETRY SCORE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828675" y="317182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Calculates the balance between incoming and outgoing bytes/packets. Helps detect exfiltration (one-way high volume).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6486525" y="2457450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BYTE RATIO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6486525" y="317182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Ratio of payload bytes to header bytes. Effective for spotting tunneling or encapsulated attacks.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828675" y="45624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TCP FLAG AGGREGATES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828675" y="527685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Sum counts of SYN, FIN, RST flags. Crucial for detecting scanning (SYN flood) and connection drops.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6486525" y="4562475"/>
            <a:ext cx="512064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PACKET DENSITY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6486525" y="527685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Packets per second within a flow window. High density indicates DDoS or flooding attempts.</a:t>
            </a:r>
            <a:endParaRPr/>
          </a:p>
        </p:txBody>
      </p:sp>
      <p:pic>
        <p:nvPicPr>
          <p:cNvPr descr="image.png" id="350" name="Google Shape;35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2457450"/>
            <a:ext cx="4953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457450"/>
            <a:ext cx="304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675" y="4562475"/>
            <a:ext cx="3524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562475"/>
            <a:ext cx="3524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067050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3067050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9575" y="3067050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819525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5300" y="3819525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29575" y="3819525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4572000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05300" y="4572000"/>
            <a:ext cx="35814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029575" y="4572000"/>
            <a:ext cx="3581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4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MODEL ARCHITECTURE (27 MODELS)</a:t>
            </a: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581025" y="257175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We implemented 9 model families, each with 3 hyperparameter variants.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1895475" y="317182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Random Forest</a:t>
            </a:r>
            <a:endParaRPr/>
          </a:p>
        </p:txBody>
      </p:sp>
      <p:sp>
        <p:nvSpPr>
          <p:cNvPr id="373" name="Google Shape;373;p24"/>
          <p:cNvSpPr txBox="1"/>
          <p:nvPr/>
        </p:nvSpPr>
        <p:spPr>
          <a:xfrm>
            <a:off x="5676900" y="3171825"/>
            <a:ext cx="838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Decision Tree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9553575" y="3171825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XGBoost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2071687" y="3924300"/>
            <a:ext cx="6000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LightGBM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5619743" y="3879525"/>
            <a:ext cx="95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AdaBoost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9529762" y="3924300"/>
            <a:ext cx="581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CatBoost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1762125" y="4676775"/>
            <a:ext cx="1219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Logistic Regression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5378100" y="4684388"/>
            <a:ext cx="1435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Naive Bayes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9488319" y="4676775"/>
            <a:ext cx="66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KNN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5" name="Google Shape;3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71700"/>
            <a:ext cx="522922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876675"/>
            <a:ext cx="5229225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5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TRAINING &amp; EVALUATION SETUP</a:t>
            </a: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5"/>
          <p:cNvSpPr txBox="1"/>
          <p:nvPr/>
        </p:nvSpPr>
        <p:spPr>
          <a:xfrm>
            <a:off x="6381750" y="2295525"/>
            <a:ext cx="54906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EVALUATION METRICS</a:t>
            </a:r>
            <a:endParaRPr/>
          </a:p>
        </p:txBody>
      </p:sp>
      <p:sp>
        <p:nvSpPr>
          <p:cNvPr id="392" name="Google Shape;392;p25"/>
          <p:cNvSpPr txBox="1"/>
          <p:nvPr/>
        </p:nvSpPr>
        <p:spPr>
          <a:xfrm>
            <a:off x="828675" y="2419350"/>
            <a:ext cx="49706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DATA SPLIT</a:t>
            </a:r>
            <a:endParaRPr/>
          </a:p>
        </p:txBody>
      </p:sp>
      <p:sp>
        <p:nvSpPr>
          <p:cNvPr id="393" name="Google Shape;393;p25"/>
          <p:cNvSpPr txBox="1"/>
          <p:nvPr/>
        </p:nvSpPr>
        <p:spPr>
          <a:xfrm>
            <a:off x="828675" y="2990850"/>
            <a:ext cx="4734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80-20 Stratified Train-Test Split to maintain class distribution.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828675" y="4124325"/>
            <a:ext cx="497062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VALIDATION</a:t>
            </a:r>
            <a:endParaRPr/>
          </a:p>
        </p:txBody>
      </p:sp>
      <p:sp>
        <p:nvSpPr>
          <p:cNvPr id="395" name="Google Shape;395;p25"/>
          <p:cNvSpPr txBox="1"/>
          <p:nvPr/>
        </p:nvSpPr>
        <p:spPr>
          <a:xfrm>
            <a:off x="828675" y="4838700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K-Fold Cross-validation ensuring model stability.</a:t>
            </a:r>
            <a:endParaRPr/>
          </a:p>
        </p:txBody>
      </p:sp>
      <p:sp>
        <p:nvSpPr>
          <p:cNvPr id="396" name="Google Shape;396;p25"/>
          <p:cNvSpPr txBox="1"/>
          <p:nvPr/>
        </p:nvSpPr>
        <p:spPr>
          <a:xfrm>
            <a:off x="6667500" y="277177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Accuracy</a:t>
            </a:r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6667500" y="32194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Precision (Weighted)</a:t>
            </a:r>
            <a:endParaRPr/>
          </a:p>
        </p:txBody>
      </p:sp>
      <p:sp>
        <p:nvSpPr>
          <p:cNvPr id="398" name="Google Shape;398;p25"/>
          <p:cNvSpPr txBox="1"/>
          <p:nvPr/>
        </p:nvSpPr>
        <p:spPr>
          <a:xfrm>
            <a:off x="6667500" y="36671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Recall (Sensitivity)</a:t>
            </a:r>
            <a:endParaRPr/>
          </a:p>
        </p:txBody>
      </p:sp>
      <p:sp>
        <p:nvSpPr>
          <p:cNvPr id="399" name="Google Shape;399;p25"/>
          <p:cNvSpPr txBox="1"/>
          <p:nvPr/>
        </p:nvSpPr>
        <p:spPr>
          <a:xfrm>
            <a:off x="6667500" y="41148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F1-Score (Harmonic Mean)</a:t>
            </a:r>
            <a:endParaRPr/>
          </a:p>
        </p:txBody>
      </p:sp>
      <p:sp>
        <p:nvSpPr>
          <p:cNvPr id="400" name="Google Shape;400;p25"/>
          <p:cNvSpPr txBox="1"/>
          <p:nvPr/>
        </p:nvSpPr>
        <p:spPr>
          <a:xfrm>
            <a:off x="6667500" y="456247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ROC-AUC Score</a:t>
            </a:r>
            <a:endParaRPr/>
          </a:p>
        </p:txBody>
      </p:sp>
      <p:sp>
        <p:nvSpPr>
          <p:cNvPr id="401" name="Google Shape;401;p25"/>
          <p:cNvSpPr txBox="1"/>
          <p:nvPr/>
        </p:nvSpPr>
        <p:spPr>
          <a:xfrm>
            <a:off x="6667500" y="50101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Confusion Matrices</a:t>
            </a:r>
            <a:endParaRPr/>
          </a:p>
        </p:txBody>
      </p:sp>
      <p:pic>
        <p:nvPicPr>
          <p:cNvPr descr="image.png" id="402" name="Google Shape;40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2419350"/>
            <a:ext cx="4000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4124325"/>
            <a:ext cx="4000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27717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2194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6671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1148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456247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501015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4" name="Google Shape;41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6" name="Google Shape;41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476875"/>
            <a:ext cx="34861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5476875"/>
            <a:ext cx="34861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8" name="Google Shape;41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4825" y="5476875"/>
            <a:ext cx="348615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26"/>
          <p:cNvSpPr txBox="1"/>
          <p:nvPr/>
        </p:nvSpPr>
        <p:spPr>
          <a:xfrm>
            <a:off x="581025" y="48577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PERFORMANCE COMPARISON (</a:t>
            </a:r>
            <a:r>
              <a:rPr b="1" lang="en-US" sz="3150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F1-Score</a:t>
            </a: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)</a:t>
            </a:r>
            <a:endParaRPr/>
          </a:p>
        </p:txBody>
      </p:sp>
      <p:sp>
        <p:nvSpPr>
          <p:cNvPr id="420" name="Google Shape;420;p26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6"/>
          <p:cNvSpPr txBox="1"/>
          <p:nvPr/>
        </p:nvSpPr>
        <p:spPr>
          <a:xfrm>
            <a:off x="653891" y="5629275"/>
            <a:ext cx="33404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TOP PERFORMER</a:t>
            </a:r>
            <a:endParaRPr/>
          </a:p>
        </p:txBody>
      </p:sp>
      <p:sp>
        <p:nvSpPr>
          <p:cNvPr id="422" name="Google Shape;422;p26"/>
          <p:cNvSpPr txBox="1"/>
          <p:nvPr/>
        </p:nvSpPr>
        <p:spPr>
          <a:xfrm>
            <a:off x="733425" y="5819775"/>
            <a:ext cx="318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XGBoost (xgb2)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Best F1 ~ 0.985</a:t>
            </a:r>
            <a:endParaRPr/>
          </a:p>
        </p:txBody>
      </p:sp>
      <p:sp>
        <p:nvSpPr>
          <p:cNvPr id="423" name="Google Shape;423;p26"/>
          <p:cNvSpPr txBox="1"/>
          <p:nvPr/>
        </p:nvSpPr>
        <p:spPr>
          <a:xfrm>
            <a:off x="4425791" y="5629275"/>
            <a:ext cx="33404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FASTEST INFERENCE</a:t>
            </a:r>
            <a:endParaRPr/>
          </a:p>
        </p:txBody>
      </p:sp>
      <p:sp>
        <p:nvSpPr>
          <p:cNvPr id="424" name="Google Shape;424;p26"/>
          <p:cNvSpPr txBox="1"/>
          <p:nvPr/>
        </p:nvSpPr>
        <p:spPr>
          <a:xfrm>
            <a:off x="4505325" y="5819775"/>
            <a:ext cx="318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LightGBM (lgbm3)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Low Latency</a:t>
            </a:r>
            <a:endParaRPr/>
          </a:p>
        </p:txBody>
      </p:sp>
      <p:sp>
        <p:nvSpPr>
          <p:cNvPr id="425" name="Google Shape;425;p26"/>
          <p:cNvSpPr txBox="1"/>
          <p:nvPr/>
        </p:nvSpPr>
        <p:spPr>
          <a:xfrm>
            <a:off x="8197691" y="5629275"/>
            <a:ext cx="334041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MOST ROBUST</a:t>
            </a:r>
            <a:endParaRPr/>
          </a:p>
        </p:txBody>
      </p:sp>
      <p:sp>
        <p:nvSpPr>
          <p:cNvPr id="426" name="Google Shape;426;p26"/>
          <p:cNvSpPr txBox="1"/>
          <p:nvPr/>
        </p:nvSpPr>
        <p:spPr>
          <a:xfrm>
            <a:off x="8277225" y="5819775"/>
            <a:ext cx="318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Random Forest (rf2)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Stable Variance</a:t>
            </a:r>
            <a:endParaRPr/>
          </a:p>
        </p:txBody>
      </p:sp>
      <p:pic>
        <p:nvPicPr>
          <p:cNvPr descr="image.png" id="427" name="Google Shape;42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7275" y="1201113"/>
            <a:ext cx="11049000" cy="51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7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CONFUSION MATRICES</a:t>
            </a:r>
            <a:endParaRPr/>
          </a:p>
        </p:txBody>
      </p:sp>
      <p:sp>
        <p:nvSpPr>
          <p:cNvPr id="435" name="Google Shape;435;p27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581025" y="1873597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Comparing classification granularity for Top 3 Models</a:t>
            </a:r>
            <a:endParaRPr/>
          </a:p>
        </p:txBody>
      </p:sp>
      <p:sp>
        <p:nvSpPr>
          <p:cNvPr id="437" name="Google Shape;437;p27"/>
          <p:cNvSpPr txBox="1"/>
          <p:nvPr/>
        </p:nvSpPr>
        <p:spPr>
          <a:xfrm>
            <a:off x="581025" y="5635972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Insight:</a:t>
            </a:r>
            <a:r>
              <a:rPr b="0" i="0" lang="en-US" sz="12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Benign detection ~99%. SMOTE significantly improved rare class detection (DDoS/DoS).</a:t>
            </a:r>
            <a:endParaRPr/>
          </a:p>
        </p:txBody>
      </p:sp>
      <p:pic>
        <p:nvPicPr>
          <p:cNvPr descr="image.png" id="438" name="Google Shape;43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473672"/>
            <a:ext cx="32766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7"/>
          <p:cNvSpPr txBox="1"/>
          <p:nvPr/>
        </p:nvSpPr>
        <p:spPr>
          <a:xfrm>
            <a:off x="685800" y="5083522"/>
            <a:ext cx="327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XGBoost</a:t>
            </a:r>
            <a:endParaRPr/>
          </a:p>
        </p:txBody>
      </p:sp>
      <p:pic>
        <p:nvPicPr>
          <p:cNvPr descr="image.png" id="440" name="Google Shape;44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57700" y="2473672"/>
            <a:ext cx="32766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7"/>
          <p:cNvSpPr txBox="1"/>
          <p:nvPr/>
        </p:nvSpPr>
        <p:spPr>
          <a:xfrm>
            <a:off x="4457700" y="5083522"/>
            <a:ext cx="327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Decision Tree</a:t>
            </a:r>
            <a:endParaRPr/>
          </a:p>
        </p:txBody>
      </p:sp>
      <p:pic>
        <p:nvPicPr>
          <p:cNvPr descr="image.png" id="442" name="Google Shape;442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00" y="2473672"/>
            <a:ext cx="32766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7"/>
          <p:cNvSpPr txBox="1"/>
          <p:nvPr/>
        </p:nvSpPr>
        <p:spPr>
          <a:xfrm>
            <a:off x="8229600" y="5083522"/>
            <a:ext cx="327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Random Forest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8" name="Google Shape;4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INFERENCE LATENCY &amp; MODEL SIZE</a:t>
            </a:r>
            <a:endParaRPr/>
          </a:p>
        </p:txBody>
      </p:sp>
      <p:sp>
        <p:nvSpPr>
          <p:cNvPr id="451" name="Google Shape;451;p28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585787" y="2667000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3060799" y="2667000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5933479" y="2667000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8092082" y="2667000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585787" y="3267075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3060799" y="3267075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5933479" y="3267075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8092082" y="3267075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85787" y="3867150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3060799" y="3867150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5933479" y="3867150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8092082" y="3867150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8"/>
          <p:cNvSpPr/>
          <p:nvPr/>
        </p:nvSpPr>
        <p:spPr>
          <a:xfrm>
            <a:off x="585787" y="4467225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8"/>
          <p:cNvSpPr/>
          <p:nvPr/>
        </p:nvSpPr>
        <p:spPr>
          <a:xfrm>
            <a:off x="3060799" y="4467225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/>
          <p:nvPr/>
        </p:nvSpPr>
        <p:spPr>
          <a:xfrm>
            <a:off x="5933479" y="4467225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/>
          <p:nvPr/>
        </p:nvSpPr>
        <p:spPr>
          <a:xfrm>
            <a:off x="8092082" y="4467225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585787" y="5067300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8"/>
          <p:cNvSpPr/>
          <p:nvPr/>
        </p:nvSpPr>
        <p:spPr>
          <a:xfrm>
            <a:off x="3060799" y="5067300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5933479" y="5067300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8092082" y="5067300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8"/>
          <p:cNvSpPr/>
          <p:nvPr/>
        </p:nvSpPr>
        <p:spPr>
          <a:xfrm>
            <a:off x="585787" y="5667375"/>
            <a:ext cx="24750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3060799" y="5667375"/>
            <a:ext cx="28726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5933479" y="5667375"/>
            <a:ext cx="21586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8"/>
          <p:cNvSpPr/>
          <p:nvPr/>
        </p:nvSpPr>
        <p:spPr>
          <a:xfrm>
            <a:off x="8092082" y="5667375"/>
            <a:ext cx="35141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6" name="Google Shape;47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4957" y="28717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4957" y="28717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 title="Screenshot 2025-12-05 001515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150" y="1592975"/>
            <a:ext cx="11029951" cy="40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3" name="Google Shape;4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9"/>
          <p:cNvSpPr txBox="1"/>
          <p:nvPr/>
        </p:nvSpPr>
        <p:spPr>
          <a:xfrm>
            <a:off x="1152525" y="1585912"/>
            <a:ext cx="4590573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WEB APPLICATION</a:t>
            </a:r>
            <a:endParaRPr/>
          </a:p>
        </p:txBody>
      </p:sp>
      <p:sp>
        <p:nvSpPr>
          <p:cNvPr id="486" name="Google Shape;486;p29"/>
          <p:cNvSpPr/>
          <p:nvPr/>
        </p:nvSpPr>
        <p:spPr>
          <a:xfrm>
            <a:off x="1152525" y="2671762"/>
            <a:ext cx="4371975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9"/>
          <p:cNvSpPr txBox="1"/>
          <p:nvPr/>
        </p:nvSpPr>
        <p:spPr>
          <a:xfrm>
            <a:off x="1152525" y="2976562"/>
            <a:ext cx="4371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Built with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Streamlit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for real-time interaction.</a:t>
            </a:r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1438275" y="3481387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Upload CSV: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Auto-preprocessing pipeline.</a:t>
            </a:r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1438275" y="3929062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Model Selection: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Choose from 27 trained models.</a:t>
            </a:r>
            <a:endParaRPr/>
          </a:p>
        </p:txBody>
      </p:sp>
      <p:sp>
        <p:nvSpPr>
          <p:cNvPr id="490" name="Google Shape;490;p29"/>
          <p:cNvSpPr txBox="1"/>
          <p:nvPr/>
        </p:nvSpPr>
        <p:spPr>
          <a:xfrm>
            <a:off x="1438275" y="4376737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Visuals: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Probability distributions &amp; confidence scores.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1438275" y="4824412"/>
            <a:ext cx="4086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Optimization: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Uses @st.cache_resource for speed.</a:t>
            </a:r>
            <a:endParaRPr/>
          </a:p>
        </p:txBody>
      </p:sp>
      <p:pic>
        <p:nvPicPr>
          <p:cNvPr descr="image.png" id="492" name="Google Shape;49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34813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39290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4" name="Google Shape;49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43767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2525" y="48244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29" title="Picture2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6038" y="300025"/>
            <a:ext cx="4676775" cy="625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0" title="Picture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25876"/>
            <a:ext cx="12192000" cy="6006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6" name="Google Shape;5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628775"/>
            <a:ext cx="53721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9" name="Google Shape;50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628775"/>
            <a:ext cx="53721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0" name="Google Shape;51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019550"/>
            <a:ext cx="53721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4019550"/>
            <a:ext cx="53721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1"/>
          <p:cNvSpPr txBox="1"/>
          <p:nvPr/>
        </p:nvSpPr>
        <p:spPr>
          <a:xfrm>
            <a:off x="581025" y="48577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714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 </a:t>
            </a: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INNOVATION</a:t>
            </a:r>
            <a:endParaRPr/>
          </a:p>
        </p:txBody>
      </p:sp>
      <p:sp>
        <p:nvSpPr>
          <p:cNvPr id="513" name="Google Shape;513;p31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4" name="Google Shape;514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33400"/>
            <a:ext cx="3714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5" name="Google Shape;515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76575" y="18764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1"/>
          <p:cNvSpPr txBox="1"/>
          <p:nvPr/>
        </p:nvSpPr>
        <p:spPr>
          <a:xfrm>
            <a:off x="706754" y="2447925"/>
            <a:ext cx="51206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27-MODEL ENGINE</a:t>
            </a:r>
            <a:endParaRPr/>
          </a:p>
        </p:txBody>
      </p:sp>
      <p:sp>
        <p:nvSpPr>
          <p:cNvPr id="517" name="Google Shape;517;p31"/>
          <p:cNvSpPr txBox="1"/>
          <p:nvPr/>
        </p:nvSpPr>
        <p:spPr>
          <a:xfrm>
            <a:off x="828675" y="2876550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Not a single IDS — a benchmarking suite for comprehensive attack detection.</a:t>
            </a:r>
            <a:endParaRPr/>
          </a:p>
        </p:txBody>
      </p:sp>
      <p:pic>
        <p:nvPicPr>
          <p:cNvPr descr="image.png" id="518" name="Google Shape;518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10612" y="18764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6364605" y="2447925"/>
            <a:ext cx="51206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FEATURE-RICH LAYER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6486525" y="2876550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Advanced metrics: flow symmetry, packet density, byte ratios.</a:t>
            </a:r>
            <a:endParaRPr/>
          </a:p>
        </p:txBody>
      </p:sp>
      <p:pic>
        <p:nvPicPr>
          <p:cNvPr descr="image.png" id="521" name="Google Shape;521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76575" y="4267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1"/>
          <p:cNvSpPr txBox="1"/>
          <p:nvPr/>
        </p:nvSpPr>
        <p:spPr>
          <a:xfrm>
            <a:off x="706754" y="4838700"/>
            <a:ext cx="51206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MODULAR ML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828675" y="5267325"/>
            <a:ext cx="4876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Plug-and-play architecture supporting future GNNs and Autoencoders.</a:t>
            </a:r>
            <a:endParaRPr/>
          </a:p>
        </p:txBody>
      </p:sp>
      <p:pic>
        <p:nvPicPr>
          <p:cNvPr descr="image.png" id="524" name="Google Shape;524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734425" y="42672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1"/>
          <p:cNvSpPr txBox="1"/>
          <p:nvPr/>
        </p:nvSpPr>
        <p:spPr>
          <a:xfrm>
            <a:off x="6364605" y="4838700"/>
            <a:ext cx="512064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AE6FD"/>
                </a:solidFill>
                <a:latin typeface="Orbitron"/>
                <a:ea typeface="Orbitron"/>
                <a:cs typeface="Orbitron"/>
                <a:sym typeface="Orbitron"/>
              </a:rPr>
              <a:t>CLOUD-NATIVE</a:t>
            </a:r>
            <a:endParaRPr/>
          </a:p>
        </p:txBody>
      </p:sp>
      <p:sp>
        <p:nvSpPr>
          <p:cNvPr id="526" name="Google Shape;526;p31"/>
          <p:cNvSpPr txBox="1"/>
          <p:nvPr/>
        </p:nvSpPr>
        <p:spPr>
          <a:xfrm>
            <a:off x="6486525" y="5267325"/>
            <a:ext cx="4876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Zero-installation, globally accessible predictive system.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1" name="Google Shape;5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2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CAVEATS &amp; LIMITATIONS</a:t>
            </a:r>
            <a:endParaRPr/>
          </a:p>
        </p:txBody>
      </p:sp>
      <p:sp>
        <p:nvSpPr>
          <p:cNvPr id="534" name="Google Shape;534;p32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5" name="Google Shape;53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16725" y="1849400"/>
            <a:ext cx="2787775" cy="278777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5972100" y="4792275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Dependent on Training Data Quality</a:t>
            </a:r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866775" y="2125875"/>
            <a:ext cx="4943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Zero-Day Blindspot: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Purely supervised models cannot detect completely new signatures.</a:t>
            </a:r>
            <a:endParaRPr sz="1700"/>
          </a:p>
        </p:txBody>
      </p:sp>
      <p:sp>
        <p:nvSpPr>
          <p:cNvPr id="538" name="Google Shape;538;p32"/>
          <p:cNvSpPr txBox="1"/>
          <p:nvPr/>
        </p:nvSpPr>
        <p:spPr>
          <a:xfrm>
            <a:off x="866775" y="3001275"/>
            <a:ext cx="4943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Schema Dependency: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Requires preprocessed CSV with exact feature schema.</a:t>
            </a:r>
            <a:endParaRPr sz="1700"/>
          </a:p>
        </p:txBody>
      </p:sp>
      <p:sp>
        <p:nvSpPr>
          <p:cNvPr id="539" name="Google Shape;539;p32"/>
          <p:cNvSpPr txBox="1"/>
          <p:nvPr/>
        </p:nvSpPr>
        <p:spPr>
          <a:xfrm>
            <a:off x="866775" y="3876675"/>
            <a:ext cx="4943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No Packet Sniffing:</a:t>
            </a:r>
            <a:r>
              <a:rPr b="0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Currently relies on flow records, not raw packet inspection.</a:t>
            </a:r>
            <a:endParaRPr sz="1800"/>
          </a:p>
        </p:txBody>
      </p:sp>
      <p:sp>
        <p:nvSpPr>
          <p:cNvPr id="540" name="Google Shape;540;p32"/>
          <p:cNvSpPr txBox="1"/>
          <p:nvPr/>
        </p:nvSpPr>
        <p:spPr>
          <a:xfrm>
            <a:off x="866775" y="4792275"/>
            <a:ext cx="49434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6B6D4"/>
                </a:solidFill>
                <a:latin typeface="Rajdhani"/>
                <a:ea typeface="Rajdhani"/>
                <a:cs typeface="Rajdhani"/>
                <a:sym typeface="Rajdhani"/>
              </a:rPr>
              <a:t>Interpretability:</a:t>
            </a:r>
            <a:r>
              <a:rPr b="0" i="0" lang="en-US" sz="19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Boosting models lack native SHAP/LIME integration in this version.</a:t>
            </a:r>
            <a:endParaRPr sz="1800"/>
          </a:p>
        </p:txBody>
      </p:sp>
      <p:pic>
        <p:nvPicPr>
          <p:cNvPr descr="image.png" id="541" name="Google Shape;54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3717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643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56913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98525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9" name="Google Shape;5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0" name="Google Shape;55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1" name="Google Shape;55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85987"/>
            <a:ext cx="11029950" cy="33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3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CONCLUSION</a:t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1295400" y="2566987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Built a complete end-to-end ML-powered IDS using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27 supervised models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.</a:t>
            </a:r>
            <a:endParaRPr sz="1700"/>
          </a:p>
        </p:txBody>
      </p:sp>
      <p:sp>
        <p:nvSpPr>
          <p:cNvPr id="555" name="Google Shape;555;p33"/>
          <p:cNvSpPr txBox="1"/>
          <p:nvPr/>
        </p:nvSpPr>
        <p:spPr>
          <a:xfrm>
            <a:off x="1295400" y="3109912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Ensemble models like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XGBoost, LightGBM, Random Forest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achieved strongest performance.</a:t>
            </a:r>
            <a:endParaRPr sz="1700"/>
          </a:p>
        </p:txBody>
      </p:sp>
      <p:sp>
        <p:nvSpPr>
          <p:cNvPr id="556" name="Google Shape;556;p33"/>
          <p:cNvSpPr txBox="1"/>
          <p:nvPr/>
        </p:nvSpPr>
        <p:spPr>
          <a:xfrm>
            <a:off x="1295400" y="3652837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Deployment as a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Streamlit cloud web app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 enables real-time accessibility.</a:t>
            </a:r>
            <a:endParaRPr sz="1700"/>
          </a:p>
        </p:txBody>
      </p:sp>
      <p:sp>
        <p:nvSpPr>
          <p:cNvPr id="557" name="Google Shape;557;p33"/>
          <p:cNvSpPr txBox="1"/>
          <p:nvPr/>
        </p:nvSpPr>
        <p:spPr>
          <a:xfrm>
            <a:off x="1295400" y="4195762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Modular architecture ensures future extensibility toward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anomaly detection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.</a:t>
            </a:r>
            <a:endParaRPr sz="1700"/>
          </a:p>
        </p:txBody>
      </p:sp>
      <p:sp>
        <p:nvSpPr>
          <p:cNvPr id="558" name="Google Shape;558;p33"/>
          <p:cNvSpPr txBox="1"/>
          <p:nvPr/>
        </p:nvSpPr>
        <p:spPr>
          <a:xfrm>
            <a:off x="1295400" y="4738687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Demonstrates how AI can significantly elevate </a:t>
            </a:r>
            <a:r>
              <a:rPr b="1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cybersecurity readiness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.</a:t>
            </a:r>
            <a:endParaRPr sz="1700"/>
          </a:p>
        </p:txBody>
      </p:sp>
      <p:pic>
        <p:nvPicPr>
          <p:cNvPr descr="image.png" id="559" name="Google Shape;55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56698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109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652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41957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4738687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8" name="Google Shape;56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4"/>
          <p:cNvSpPr txBox="1"/>
          <p:nvPr/>
        </p:nvSpPr>
        <p:spPr>
          <a:xfrm>
            <a:off x="581025" y="485775"/>
            <a:ext cx="1158144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REFERENCES</a:t>
            </a:r>
            <a:endParaRPr/>
          </a:p>
        </p:txBody>
      </p:sp>
      <p:sp>
        <p:nvSpPr>
          <p:cNvPr id="571" name="Google Shape;571;p34"/>
          <p:cNvSpPr/>
          <p:nvPr/>
        </p:nvSpPr>
        <p:spPr>
          <a:xfrm>
            <a:off x="581025" y="1076325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 txBox="1"/>
          <p:nvPr/>
        </p:nvSpPr>
        <p:spPr>
          <a:xfrm>
            <a:off x="866775" y="29003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TII-SSRC-23 Dataset – IEEE Access (2023)</a:t>
            </a:r>
            <a:endParaRPr/>
          </a:p>
        </p:txBody>
      </p:sp>
      <p:sp>
        <p:nvSpPr>
          <p:cNvPr id="573" name="Google Shape;573;p34"/>
          <p:cNvSpPr txBox="1"/>
          <p:nvPr/>
        </p:nvSpPr>
        <p:spPr>
          <a:xfrm>
            <a:off x="866775" y="334803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Moustafa &amp; Slay, "UNSW-NB15: a comprehensive data set for network intrusion detection" (MilCIS 2016)</a:t>
            </a:r>
            <a:endParaRPr/>
          </a:p>
        </p:txBody>
      </p:sp>
      <p:sp>
        <p:nvSpPr>
          <p:cNvPr id="574" name="Google Shape;574;p34"/>
          <p:cNvSpPr txBox="1"/>
          <p:nvPr/>
        </p:nvSpPr>
        <p:spPr>
          <a:xfrm>
            <a:off x="866775" y="410051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Chawla et al., "SMOTE: Synthetic Minority Over-sampling Technique" (JAIR, 2002)</a:t>
            </a:r>
            <a:endParaRPr/>
          </a:p>
        </p:txBody>
      </p:sp>
      <p:sp>
        <p:nvSpPr>
          <p:cNvPr id="575" name="Google Shape;575;p34"/>
          <p:cNvSpPr txBox="1"/>
          <p:nvPr/>
        </p:nvSpPr>
        <p:spPr>
          <a:xfrm>
            <a:off x="6667500" y="290036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Scikit-learn Documentation (sklearn.org)</a:t>
            </a:r>
            <a:endParaRPr/>
          </a:p>
        </p:txBody>
      </p:sp>
      <p:sp>
        <p:nvSpPr>
          <p:cNvPr id="576" name="Google Shape;576;p34"/>
          <p:cNvSpPr txBox="1"/>
          <p:nvPr/>
        </p:nvSpPr>
        <p:spPr>
          <a:xfrm>
            <a:off x="6667500" y="3348037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Streamlit Documentation (docs.streamlit.io)</a:t>
            </a:r>
            <a:endParaRPr/>
          </a:p>
        </p:txBody>
      </p:sp>
      <p:sp>
        <p:nvSpPr>
          <p:cNvPr id="577" name="Google Shape;577;p34"/>
          <p:cNvSpPr txBox="1"/>
          <p:nvPr/>
        </p:nvSpPr>
        <p:spPr>
          <a:xfrm>
            <a:off x="6667500" y="3795712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XGBoost &amp; LightGBM Official Repositories</a:t>
            </a:r>
            <a:endParaRPr/>
          </a:p>
        </p:txBody>
      </p:sp>
      <p:pic>
        <p:nvPicPr>
          <p:cNvPr descr="image.png" id="578" name="Google Shape;57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9003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9" name="Google Shape;57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480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005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0036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480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79571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150" y="900"/>
            <a:ext cx="11029950" cy="7450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873472"/>
            <a:ext cx="11029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5"/>
          <p:cNvSpPr txBox="1"/>
          <p:nvPr/>
        </p:nvSpPr>
        <p:spPr>
          <a:xfrm>
            <a:off x="305276" y="2016472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6B6D4"/>
                </a:solidFill>
                <a:latin typeface="Orbitron"/>
                <a:ea typeface="Orbitron"/>
                <a:cs typeface="Orbitron"/>
                <a:sym typeface="Orbitron"/>
              </a:rPr>
              <a:t>ACKNOWLEDGMENTS</a:t>
            </a:r>
            <a:endParaRPr/>
          </a:p>
        </p:txBody>
      </p:sp>
      <p:sp>
        <p:nvSpPr>
          <p:cNvPr id="592" name="Google Shape;592;p35"/>
          <p:cNvSpPr/>
          <p:nvPr/>
        </p:nvSpPr>
        <p:spPr>
          <a:xfrm>
            <a:off x="581025" y="2711797"/>
            <a:ext cx="11029950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581025" y="3111847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We gratefully acknowledge the guidance of:</a:t>
            </a:r>
            <a:endParaRPr sz="1700"/>
          </a:p>
        </p:txBody>
      </p:sp>
      <p:sp>
        <p:nvSpPr>
          <p:cNvPr id="594" name="Google Shape;594;p35"/>
          <p:cNvSpPr txBox="1"/>
          <p:nvPr/>
        </p:nvSpPr>
        <p:spPr>
          <a:xfrm>
            <a:off x="581025" y="3416647"/>
            <a:ext cx="110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3B82F6"/>
                </a:solidFill>
                <a:latin typeface="Rajdhani"/>
                <a:ea typeface="Rajdhani"/>
                <a:cs typeface="Rajdhani"/>
                <a:sym typeface="Rajdhani"/>
              </a:rPr>
              <a:t>Dr. Geethika Sethi</a:t>
            </a:r>
            <a:endParaRPr sz="2500"/>
          </a:p>
        </p:txBody>
      </p:sp>
      <p:sp>
        <p:nvSpPr>
          <p:cNvPr id="595" name="Google Shape;595;p35"/>
          <p:cNvSpPr txBox="1"/>
          <p:nvPr/>
        </p:nvSpPr>
        <p:spPr>
          <a:xfrm>
            <a:off x="581025" y="4026247"/>
            <a:ext cx="1103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Mentor and Project Supervisor</a:t>
            </a:r>
            <a:endParaRPr sz="2000"/>
          </a:p>
        </p:txBody>
      </p:sp>
      <p:sp>
        <p:nvSpPr>
          <p:cNvPr id="596" name="Google Shape;596;p35"/>
          <p:cNvSpPr txBox="1"/>
          <p:nvPr/>
        </p:nvSpPr>
        <p:spPr>
          <a:xfrm>
            <a:off x="581025" y="4864447"/>
            <a:ext cx="1103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CBD5E1"/>
                </a:solidFill>
                <a:latin typeface="Rajdhani"/>
                <a:ea typeface="Rajdhani"/>
                <a:cs typeface="Rajdhani"/>
                <a:sym typeface="Rajdhani"/>
              </a:rPr>
              <a:t>Lovely Professional University</a:t>
            </a:r>
            <a:endParaRPr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